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5"/>
  </p:notesMasterIdLst>
  <p:sldIdLst>
    <p:sldId id="256" r:id="rId2"/>
    <p:sldId id="257" r:id="rId3"/>
    <p:sldId id="312" r:id="rId4"/>
    <p:sldId id="315" r:id="rId5"/>
    <p:sldId id="258" r:id="rId6"/>
    <p:sldId id="314" r:id="rId7"/>
    <p:sldId id="259" r:id="rId8"/>
    <p:sldId id="305" r:id="rId9"/>
    <p:sldId id="261" r:id="rId10"/>
    <p:sldId id="310" r:id="rId11"/>
    <p:sldId id="313" r:id="rId12"/>
    <p:sldId id="306" r:id="rId13"/>
    <p:sldId id="311" r:id="rId14"/>
  </p:sldIdLst>
  <p:sldSz cx="9144000" cy="5143500" type="screen16x9"/>
  <p:notesSz cx="6858000" cy="9144000"/>
  <p:embeddedFontLst>
    <p:embeddedFont>
      <p:font typeface="Figtree Black" panose="020B0604020202020204" charset="0"/>
      <p:bold r:id="rId16"/>
      <p:boldItalic r:id="rId17"/>
    </p:embeddedFont>
    <p:embeddedFont>
      <p:font typeface="Hanken Grotesk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ECE2DB-D436-49BE-9FF7-1B068500BEBB}">
  <a:tblStyle styleId="{E6ECE2DB-D436-49BE-9FF7-1B068500BE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C69F7BA1-B36C-8D77-5F0D-F0B2CFF02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A0AC76A3-6A28-2A19-3866-355F9F6704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6BC29F3C-FF75-323E-3791-6462B84A3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0808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28D5CB63-FFEB-9A97-5153-356521E52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AAE4C531-36E8-0D90-2DB8-E4C1695E88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6B3D2970-7DE2-0A59-DAF3-1A8403581A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9508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768bdccc6f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768bdccc6f_2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9FA33861-48DA-A269-3A7C-738C6BFB4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08A6F13E-B736-DBF6-6633-99251890B6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F07F4A3D-BF1A-B9E6-EF0F-3C8E118C3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71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BABE5927-8214-1915-D2AF-3B36A479C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768bdccc6f_2_140:notes">
            <a:extLst>
              <a:ext uri="{FF2B5EF4-FFF2-40B4-BE49-F238E27FC236}">
                <a16:creationId xmlns:a16="http://schemas.microsoft.com/office/drawing/2014/main" id="{F684FA58-A2A1-90A7-6435-F152B3EAE6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768bdccc6f_2_140:notes">
            <a:extLst>
              <a:ext uri="{FF2B5EF4-FFF2-40B4-BE49-F238E27FC236}">
                <a16:creationId xmlns:a16="http://schemas.microsoft.com/office/drawing/2014/main" id="{B4F14DE3-3A06-7535-222E-49C3DA67C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032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91" name="Google Shape;91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3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4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5" hasCustomPrompt="1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6" hasCustomPrompt="1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7" hasCustomPrompt="1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8" hasCustomPrompt="1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9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3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14" hasCustomPrompt="1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15" hasCustomPrompt="1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6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7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8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9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20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21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14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116" name="Google Shape;116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7" name="Google Shape;117;p14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9" name="Google Shape;119;p14"/>
          <p:cNvSpPr txBox="1">
            <a:spLocks noGrp="1"/>
          </p:cNvSpPr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subTitle" idx="1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60" r:id="rId7"/>
    <p:sldLayoutId id="2147483674" r:id="rId8"/>
    <p:sldLayoutId id="2147483675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235072" y="1364194"/>
            <a:ext cx="6593156" cy="18444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vi-VN" sz="2800" b="1" dirty="0">
                <a:latin typeface="+mj-lt"/>
              </a:rPr>
              <a:t>THIẾT KẾ VÀ CÀI ĐẶT CSDL NOSQL </a:t>
            </a:r>
            <a:r>
              <a:rPr lang="vi-VN" sz="2800" dirty="0">
                <a:latin typeface="+mj-lt"/>
              </a:rPr>
              <a:t>CHO HỆ THỐNG</a:t>
            </a:r>
            <a:r>
              <a:rPr lang="en-US" sz="2800" dirty="0">
                <a:latin typeface="+mj-lt"/>
              </a:rPr>
              <a:t> </a:t>
            </a:r>
            <a:r>
              <a:rPr lang="vi-VN" sz="2800" dirty="0">
                <a:latin typeface="+mj-lt"/>
              </a:rPr>
              <a:t>QUẢN LÝ</a:t>
            </a:r>
            <a:r>
              <a:rPr lang="en-US" sz="2800" dirty="0">
                <a:latin typeface="+mj-lt"/>
              </a:rPr>
              <a:t> </a:t>
            </a:r>
            <a:r>
              <a:rPr lang="vi-VN" sz="2800" dirty="0">
                <a:latin typeface="+mj-lt"/>
              </a:rPr>
              <a:t>NỘI DUNG ĐA PHƯƠNG TIỆN </a:t>
            </a:r>
            <a:r>
              <a:rPr lang="en-US" sz="2800" dirty="0">
                <a:latin typeface="+mj-lt"/>
              </a:rPr>
              <a:t>TRANG </a:t>
            </a:r>
            <a:r>
              <a:rPr lang="vi-VN" sz="2800" dirty="0">
                <a:latin typeface="+mj-lt"/>
              </a:rPr>
              <a:t>TIN TỨC</a:t>
            </a:r>
            <a:r>
              <a:rPr lang="en-US" sz="2800" dirty="0">
                <a:latin typeface="+mj-lt"/>
              </a:rPr>
              <a:t>/BLOG</a:t>
            </a:r>
            <a:endParaRPr sz="2800" dirty="0">
              <a:latin typeface="+mj-lt"/>
            </a:endParaRPr>
          </a:p>
        </p:txBody>
      </p:sp>
      <p:sp>
        <p:nvSpPr>
          <p:cNvPr id="290" name="Google Shape;290;p33"/>
          <p:cNvSpPr txBox="1">
            <a:spLocks noGrp="1"/>
          </p:cNvSpPr>
          <p:nvPr>
            <p:ph type="subTitle" idx="1"/>
          </p:nvPr>
        </p:nvSpPr>
        <p:spPr>
          <a:xfrm>
            <a:off x="4140153" y="3779306"/>
            <a:ext cx="3688075" cy="605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Sinh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 Nguyễn Duy Tân</a:t>
            </a:r>
          </a:p>
          <a:p>
            <a:pPr marL="0" lvl="0" indent="0"/>
            <a:r>
              <a:rPr lang="vi-VN" dirty="0"/>
              <a:t>Giảng viên hướng dẫn:</a:t>
            </a:r>
            <a:r>
              <a:rPr lang="en-US" dirty="0"/>
              <a:t> Phan Thị Phương Nam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Lý do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" name="Google Shape;296;p34"/>
          <p:cNvSpPr txBox="1">
            <a:spLocks noGrp="1"/>
          </p:cNvSpPr>
          <p:nvPr>
            <p:ph type="body" idx="4294967295"/>
          </p:nvPr>
        </p:nvSpPr>
        <p:spPr>
          <a:xfrm>
            <a:off x="524615" y="1111321"/>
            <a:ext cx="5438523" cy="31387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lnSpc>
                <a:spcPct val="150000"/>
              </a:lnSpc>
              <a:buNone/>
            </a:pPr>
            <a:r>
              <a:rPr lang="en-US" sz="2000" dirty="0">
                <a:latin typeface="+mj-lt"/>
              </a:rPr>
              <a:t>- </a:t>
            </a:r>
            <a:r>
              <a:rPr lang="vi-VN" sz="2000" dirty="0">
                <a:latin typeface="+mj-lt"/>
              </a:rPr>
              <a:t>Hệ thống tin tức / blog có dữ liệu lớn, nội dung đa phương tiện, tần suất đọc cao</a:t>
            </a:r>
          </a:p>
          <a:p>
            <a:pPr marL="139700" indent="0">
              <a:lnSpc>
                <a:spcPct val="150000"/>
              </a:lnSpc>
              <a:buNone/>
            </a:pPr>
            <a:r>
              <a:rPr lang="en-US" sz="2000" dirty="0">
                <a:latin typeface="+mj-lt"/>
              </a:rPr>
              <a:t>- </a:t>
            </a:r>
            <a:r>
              <a:rPr lang="vi-VN" sz="2000" dirty="0">
                <a:latin typeface="+mj-lt"/>
              </a:rPr>
              <a:t>Nhu cầu quản lý bài viết gắn với tác giả, danh mục và media trong cùng một mô hình dữ liệu</a:t>
            </a:r>
          </a:p>
          <a:p>
            <a:pPr marL="13970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NoSQL linh hoạt, hỗ trợ mô hình nhúng, phù hợp cho hệ thống quản lý nội dung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35A75E-9C8B-85AA-6077-D3CBF3DCD0F1}"/>
              </a:ext>
            </a:extLst>
          </p:cNvPr>
          <p:cNvSpPr/>
          <p:nvPr/>
        </p:nvSpPr>
        <p:spPr>
          <a:xfrm>
            <a:off x="5963139" y="1111321"/>
            <a:ext cx="2790092" cy="303864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67AF004F-EFC6-31F2-86DA-4F38DF354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CBAAB13D-1427-A974-D42B-780864AD3D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8432" y="4372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9E6A4F-E35E-44BC-1F54-B150B0687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984" y="843112"/>
            <a:ext cx="4798646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cơ sở dữ liệu NoSQL cho website tin tức / blog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mô hình dữ liệu quản lý bài viết, người dùng, danh mục và đa phương tiện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Áp dụng phương pháp nhúng (Embedded) trong MongoDB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Đảm bảo dữ liệu rõ ràng, dễ truy vấn và phù hợp với hệ thống quản lý nội dung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DEE475-8EE6-F68A-1021-E561C7826750}"/>
              </a:ext>
            </a:extLst>
          </p:cNvPr>
          <p:cNvSpPr/>
          <p:nvPr/>
        </p:nvSpPr>
        <p:spPr>
          <a:xfrm>
            <a:off x="586154" y="1295023"/>
            <a:ext cx="2977661" cy="306363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51667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3B6B5C09-B0DF-32AF-B965-34EE7374A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C80F4C32-8855-F9DE-A86A-FD4819B1BB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8432" y="4372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NoSQL &amp; MongoDB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FB34004-2408-8EDB-05BE-46D05C09E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432" y="1590279"/>
            <a:ext cx="374356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MongoDB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document (JSON-like)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NoSQL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linh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phi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177817-81FF-C554-0A23-3103AA97F05F}"/>
              </a:ext>
            </a:extLst>
          </p:cNvPr>
          <p:cNvSpPr/>
          <p:nvPr/>
        </p:nvSpPr>
        <p:spPr>
          <a:xfrm>
            <a:off x="4680432" y="1009910"/>
            <a:ext cx="3884246" cy="340750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387010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/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(Embedded)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ubtitle 24">
            <a:extLst>
              <a:ext uri="{FF2B5EF4-FFF2-40B4-BE49-F238E27FC236}">
                <a16:creationId xmlns:a16="http://schemas.microsoft.com/office/drawing/2014/main" id="{4ACF94D9-815F-2013-9763-27FA1D0486A2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830400" y="1177844"/>
            <a:ext cx="7635971" cy="3269110"/>
          </a:xfrm>
        </p:spPr>
        <p:txBody>
          <a:bodyPr/>
          <a:lstStyle/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  <a:r>
              <a:rPr lang="vi-V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Sử dụng mô hình Embedded Document để tối ưu hiệu năng.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Tac_gia: Nhúng đối tượng chứa họ tên biên tập viên.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Danh_muc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Media_dinh_kem: Nhúng mảng chứa đường dẫn hình ảnh/video.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chụp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JSON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MongoDB Compass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2A19CA08-02A4-55E0-6131-7B41B3D92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ECAC9D42-107F-9928-FB75-86F8687D6C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9191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 Các collection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9F6913-3D1A-10EF-0461-9C19FAC21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0" y="1324563"/>
            <a:ext cx="4868000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- </a:t>
            </a:r>
            <a:r>
              <a:rPr lang="vi-VN" sz="2000" dirty="0">
                <a:latin typeface="+mj-lt"/>
              </a:rPr>
              <a:t>Hệ thống gồm 4 collection chính: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+ </a:t>
            </a:r>
            <a:r>
              <a:rPr lang="vi-VN" sz="2000" dirty="0">
                <a:latin typeface="+mj-lt"/>
              </a:rPr>
              <a:t>BAIVIET – Lưu nội dung bài viết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+ </a:t>
            </a:r>
            <a:r>
              <a:rPr lang="vi-VN" sz="2000" dirty="0">
                <a:latin typeface="+mj-lt"/>
              </a:rPr>
              <a:t>NGUOIDUNG – Quản lý người dùng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+ </a:t>
            </a:r>
            <a:r>
              <a:rPr lang="vi-VN" sz="2000" dirty="0">
                <a:latin typeface="+mj-lt"/>
              </a:rPr>
              <a:t>DANHMUCBAIVIET – Danh mục bài viết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</a:rPr>
              <a:t>+ </a:t>
            </a:r>
            <a:r>
              <a:rPr lang="vi-VN" sz="2000" dirty="0">
                <a:latin typeface="+mj-lt"/>
              </a:rPr>
              <a:t>DAPHUONGTIEN – Quản lý file đa phương tiện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21B31A-B65A-3EA8-6BF8-498B0B7E1BD7}"/>
              </a:ext>
            </a:extLst>
          </p:cNvPr>
          <p:cNvSpPr/>
          <p:nvPr/>
        </p:nvSpPr>
        <p:spPr>
          <a:xfrm>
            <a:off x="5720861" y="1149836"/>
            <a:ext cx="2844800" cy="298171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3799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>
            <a:spLocks noGrp="1"/>
          </p:cNvSpPr>
          <p:nvPr>
            <p:ph type="title"/>
          </p:nvPr>
        </p:nvSpPr>
        <p:spPr>
          <a:xfrm>
            <a:off x="944074" y="773723"/>
            <a:ext cx="7661372" cy="5705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6/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1–1)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EE391BB-4839-9083-6FEE-8540A8BDD3E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0382" y="1679395"/>
            <a:ext cx="549580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db.BAIVIET.find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{ "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Tac_gia.Ho_ten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Văn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Thao" },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{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Tieu_de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1,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Ngay_tao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1, _id: 0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</a:t>
            </a:r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36;p37">
            <a:extLst>
              <a:ext uri="{FF2B5EF4-FFF2-40B4-BE49-F238E27FC236}">
                <a16:creationId xmlns:a16="http://schemas.microsoft.com/office/drawing/2014/main" id="{49A8E684-B944-1987-4646-8EDF273755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4119" y="57007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F82584-BDFF-4703-0E76-E06C2F0580DE}"/>
              </a:ext>
            </a:extLst>
          </p:cNvPr>
          <p:cNvSpPr txBox="1"/>
          <p:nvPr/>
        </p:nvSpPr>
        <p:spPr>
          <a:xfrm>
            <a:off x="904119" y="1434593"/>
            <a:ext cx="278474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Þ"/>
            </a:pPr>
            <a:r>
              <a:rPr lang="vi-VN" sz="2000" dirty="0">
                <a:latin typeface="+mj-lt"/>
                <a:cs typeface="Times New Roman" panose="02020603050405020304" pitchFamily="18" charset="0"/>
              </a:rPr>
              <a:t>Nhận xét: </a:t>
            </a:r>
            <a:endParaRPr lang="en-US" sz="2000" dirty="0">
              <a:latin typeface="+mj-lt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+mj-lt"/>
              </a:rPr>
              <a:t>+ </a:t>
            </a:r>
            <a:r>
              <a:rPr lang="vi-VN" sz="2000" dirty="0">
                <a:latin typeface="+mj-lt"/>
              </a:rPr>
              <a:t>Tac_gia được nhúng trực tiếp trong BAIVIET</a:t>
            </a:r>
          </a:p>
          <a:p>
            <a:r>
              <a:rPr lang="en-US" sz="2000" dirty="0">
                <a:latin typeface="+mj-lt"/>
              </a:rPr>
              <a:t>+ </a:t>
            </a:r>
            <a:r>
              <a:rPr lang="vi-VN" sz="2000" dirty="0">
                <a:latin typeface="+mj-lt"/>
              </a:rPr>
              <a:t>Quan hệ 1 người dùng – nhiều bài viết (1–N)</a:t>
            </a:r>
          </a:p>
          <a:p>
            <a:r>
              <a:rPr lang="en-US" sz="2000" dirty="0">
                <a:latin typeface="+mj-lt"/>
              </a:rPr>
              <a:t>+ </a:t>
            </a:r>
            <a:r>
              <a:rPr lang="vi-VN" sz="2000" dirty="0">
                <a:latin typeface="+mj-lt"/>
              </a:rPr>
              <a:t>Không JOIN, không lookup</a:t>
            </a:r>
          </a:p>
          <a:p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0C123D-FD2B-2723-1D9F-3C16E65996BE}"/>
              </a:ext>
            </a:extLst>
          </p:cNvPr>
          <p:cNvSpPr/>
          <p:nvPr/>
        </p:nvSpPr>
        <p:spPr>
          <a:xfrm>
            <a:off x="3782647" y="1575288"/>
            <a:ext cx="4300927" cy="225425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4460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E3DB56-28C0-58CB-7A20-92D170A4A315}"/>
              </a:ext>
            </a:extLst>
          </p:cNvPr>
          <p:cNvSpPr txBox="1"/>
          <p:nvPr/>
        </p:nvSpPr>
        <p:spPr>
          <a:xfrm>
            <a:off x="1077567" y="787270"/>
            <a:ext cx="6867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7/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DANH MỤC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1–N)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FE1D2-1690-8AD6-BB76-A531A2BF3BCB}"/>
              </a:ext>
            </a:extLst>
          </p:cNvPr>
          <p:cNvSpPr txBox="1"/>
          <p:nvPr/>
        </p:nvSpPr>
        <p:spPr>
          <a:xfrm>
            <a:off x="1077567" y="1659701"/>
            <a:ext cx="7004496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db.BAIVIET.find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"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Danh_muc.Ten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"Công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},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Tieu_de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1, "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Tac_gia.Ho_ten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1, _id: 0 }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2158-A6CA-DCB4-3043-414C38CE7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C5DE08-9BCE-2657-17C5-3BDAFBB173A5}"/>
              </a:ext>
            </a:extLst>
          </p:cNvPr>
          <p:cNvSpPr txBox="1"/>
          <p:nvPr/>
        </p:nvSpPr>
        <p:spPr>
          <a:xfrm>
            <a:off x="1260187" y="658775"/>
            <a:ext cx="3821724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251D91-7928-DCD4-A5C6-E5C4B367720B}"/>
              </a:ext>
            </a:extLst>
          </p:cNvPr>
          <p:cNvSpPr txBox="1"/>
          <p:nvPr/>
        </p:nvSpPr>
        <p:spPr>
          <a:xfrm>
            <a:off x="1260187" y="3030745"/>
            <a:ext cx="39331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Danh_muc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(1–N)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18458E-7B38-F0DE-CBBF-EC4B55F37A18}"/>
              </a:ext>
            </a:extLst>
          </p:cNvPr>
          <p:cNvSpPr/>
          <p:nvPr/>
        </p:nvSpPr>
        <p:spPr>
          <a:xfrm>
            <a:off x="1260187" y="1218705"/>
            <a:ext cx="4540738" cy="178809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4742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36D19333-A6A7-762C-F3DF-A443FC37A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>
            <a:extLst>
              <a:ext uri="{FF2B5EF4-FFF2-40B4-BE49-F238E27FC236}">
                <a16:creationId xmlns:a16="http://schemas.microsoft.com/office/drawing/2014/main" id="{3FA4E63F-FEAD-D189-38CE-E8DEE126AB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8/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(Embedded)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ubtitle 24">
            <a:extLst>
              <a:ext uri="{FF2B5EF4-FFF2-40B4-BE49-F238E27FC236}">
                <a16:creationId xmlns:a16="http://schemas.microsoft.com/office/drawing/2014/main" id="{6F71E163-9B2B-D1CC-5A67-52A07BB8166B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63200" y="932591"/>
            <a:ext cx="3428984" cy="3338239"/>
          </a:xfrm>
        </p:spPr>
        <p:txBody>
          <a:bodyPr/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JOIN.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website tin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blog.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ECF5069-D961-1CA8-4052-0E88AC3A9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932591"/>
            <a:ext cx="4103077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trùng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Khi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document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2737C5-3A7D-ACF1-8F0A-B851673AF74D}"/>
              </a:ext>
            </a:extLst>
          </p:cNvPr>
          <p:cNvCxnSpPr>
            <a:cxnSpLocks/>
          </p:cNvCxnSpPr>
          <p:nvPr/>
        </p:nvCxnSpPr>
        <p:spPr>
          <a:xfrm>
            <a:off x="4092184" y="1074456"/>
            <a:ext cx="0" cy="358845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664612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8CA430-69B8-79F9-799E-D1232F60411A}"/>
              </a:ext>
            </a:extLst>
          </p:cNvPr>
          <p:cNvSpPr txBox="1"/>
          <p:nvPr/>
        </p:nvSpPr>
        <p:spPr>
          <a:xfrm>
            <a:off x="937846" y="679939"/>
            <a:ext cx="7268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Xử lý sự cố &amp; Tối ưu hóa dữ liệu</a:t>
            </a:r>
          </a:p>
        </p:txBody>
      </p:sp>
      <p:sp>
        <p:nvSpPr>
          <p:cNvPr id="12" name="Google Shape;381;p39">
            <a:extLst>
              <a:ext uri="{FF2B5EF4-FFF2-40B4-BE49-F238E27FC236}">
                <a16:creationId xmlns:a16="http://schemas.microsoft.com/office/drawing/2014/main" id="{D424F721-0440-E08D-579C-FC06115CCFA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93286" y="1282700"/>
            <a:ext cx="4696315" cy="31808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Vấn đề: Hiện tượng trùng lặp dữ liệu trong quá trình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l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l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deleteOne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thừa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l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collection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trùng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>
              <a:buFontTx/>
              <a:buChar char="-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D91625-2054-E8E5-B37A-0593A9C19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181" y="1473483"/>
            <a:ext cx="2196533" cy="21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77377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6E2A7B-B476-936C-D241-017007A3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077" y="693242"/>
            <a:ext cx="3032186" cy="531900"/>
          </a:xfrm>
        </p:spPr>
        <p:txBody>
          <a:bodyPr/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10/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9758F3-CF05-E738-9820-C24091B33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25414" y="1126271"/>
            <a:ext cx="452510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NoSQL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/Blog.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1–1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1–N.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Hiệu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A04904-92FA-529C-86B0-904AD6EE8C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46"/>
          <a:stretch>
            <a:fillRect/>
          </a:stretch>
        </p:blipFill>
        <p:spPr>
          <a:xfrm>
            <a:off x="5439693" y="1421755"/>
            <a:ext cx="2578893" cy="259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34436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800</Words>
  <Application>Microsoft Office PowerPoint</Application>
  <PresentationFormat>On-screen Show (16:9)</PresentationFormat>
  <Paragraphs>73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Symbol</vt:lpstr>
      <vt:lpstr>Hanken Grotesk</vt:lpstr>
      <vt:lpstr>Times New Roman</vt:lpstr>
      <vt:lpstr>Arial</vt:lpstr>
      <vt:lpstr>Figtree Black</vt:lpstr>
      <vt:lpstr>Elegant Black &amp; White Thesis Defense by Slidesgo</vt:lpstr>
      <vt:lpstr>THIẾT KẾ VÀ CÀI ĐẶT CSDL NOSQL CHO HỆ THỐNG QUẢN LÝ NỘI DUNG ĐA PHƯƠNG TIỆN TRANG TIN TỨC/BLOG</vt:lpstr>
      <vt:lpstr>1/ Lý do chọn đề tài</vt:lpstr>
      <vt:lpstr>2/ Mục tiêu</vt:lpstr>
      <vt:lpstr>3/ Tổng quan NoSQL &amp; MongoDB</vt:lpstr>
      <vt:lpstr>4/ Thiết kế Mô hình dữ liệu Nhúng (Embedded)</vt:lpstr>
      <vt:lpstr>5/ Các collection trong hệ thống</vt:lpstr>
      <vt:lpstr>6/ Truy vấn theo Tác giả (nhúng 1–1)</vt:lpstr>
      <vt:lpstr>- Hình ảnh sau khi thực thi câu lệnh:</vt:lpstr>
      <vt:lpstr>PowerPoint Presentation</vt:lpstr>
      <vt:lpstr>PowerPoint Presentation</vt:lpstr>
      <vt:lpstr>8/ Ưu và nhược điểm mô hình nhúng (Embedded)</vt:lpstr>
      <vt:lpstr>PowerPoint Presentation</vt:lpstr>
      <vt:lpstr>- Đề tài thiết kế và cài đặt cơ sở dữ liệu NoSQL đúng với hệ thống tin tức/Blog. - Áp dụng hiệu quả nhúng 1–1 và 1–N. - Đảm bảo: + Hiệu năng. + Tính đơn giản. + Khả năng mở rộng.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Tan</cp:lastModifiedBy>
  <cp:revision>100</cp:revision>
  <dcterms:modified xsi:type="dcterms:W3CDTF">2026-01-08T08:02:58Z</dcterms:modified>
</cp:coreProperties>
</file>