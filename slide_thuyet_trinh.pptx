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305" r:id="rId6"/>
    <p:sldId id="261" r:id="rId7"/>
    <p:sldId id="310" r:id="rId8"/>
    <p:sldId id="306" r:id="rId9"/>
    <p:sldId id="266" r:id="rId10"/>
  </p:sldIdLst>
  <p:sldSz cx="9144000" cy="5143500" type="screen16x9"/>
  <p:notesSz cx="6858000" cy="9144000"/>
  <p:embeddedFontLst>
    <p:embeddedFont>
      <p:font typeface="Figtree Black" panose="020B0604020202020204" charset="0"/>
      <p:bold r:id="rId12"/>
      <p:boldItalic r:id="rId13"/>
    </p:embeddedFont>
    <p:embeddedFont>
      <p:font typeface="Hanken Grotesk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ECE2DB-D436-49BE-9FF7-1B068500BEBB}">
  <a:tblStyle styleId="{E6ECE2DB-D436-49BE-9FF7-1B068500BE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77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68bdccc6f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768bdccc6f_2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161ca7da6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161ca7da6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8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64" name="Google Shape;64;p8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65" name="Google Shape;65;p8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8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91" name="Google Shape;91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3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4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5" hasCustomPrompt="1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7" hasCustomPrompt="1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8" hasCustomPrompt="1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9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3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14" hasCustomPrompt="1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15" hasCustomPrompt="1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6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7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8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9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20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21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16" name="Google Shape;116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7" name="Google Shape;117;p14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9" name="Google Shape;119;p14"/>
          <p:cNvSpPr txBox="1">
            <a:spLocks noGrp="1"/>
          </p:cNvSpPr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subTitle" idx="1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5" r:id="rId5"/>
    <p:sldLayoutId id="2147483658" r:id="rId6"/>
    <p:sldLayoutId id="2147483659" r:id="rId7"/>
    <p:sldLayoutId id="2147483660" r:id="rId8"/>
    <p:sldLayoutId id="2147483674" r:id="rId9"/>
    <p:sldLayoutId id="2147483675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134017" y="859692"/>
            <a:ext cx="5524690" cy="19147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vi-VN" sz="2800" dirty="0">
                <a:latin typeface="+mj-lt"/>
              </a:rPr>
              <a:t>THIẾT KẾ VÀ CÀI ĐẶT CSDL NOSQL CHO HỆ THỐNG QUẢN LÝ NỘI DUNG ĐA PHƯƠNG TIỆN </a:t>
            </a:r>
            <a:r>
              <a:rPr lang="en-US" sz="2800" dirty="0">
                <a:latin typeface="+mj-lt"/>
              </a:rPr>
              <a:t>TRANG </a:t>
            </a:r>
            <a:r>
              <a:rPr lang="vi-VN" sz="2800" dirty="0">
                <a:latin typeface="+mj-lt"/>
              </a:rPr>
              <a:t>TIN TỨC</a:t>
            </a:r>
            <a:r>
              <a:rPr lang="en-US" sz="2800" dirty="0">
                <a:latin typeface="+mj-lt"/>
              </a:rPr>
              <a:t>/BLOG</a:t>
            </a:r>
            <a:endParaRPr sz="2800" dirty="0">
              <a:latin typeface="+mj-lt"/>
            </a:endParaRPr>
          </a:p>
        </p:txBody>
      </p:sp>
      <p:sp>
        <p:nvSpPr>
          <p:cNvPr id="290" name="Google Shape;290;p33"/>
          <p:cNvSpPr txBox="1">
            <a:spLocks noGrp="1"/>
          </p:cNvSpPr>
          <p:nvPr>
            <p:ph type="subTitle" idx="1"/>
          </p:nvPr>
        </p:nvSpPr>
        <p:spPr>
          <a:xfrm>
            <a:off x="3743569" y="3368589"/>
            <a:ext cx="3688075" cy="9152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Sinh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 Nguyễn Duy Tân</a:t>
            </a:r>
          </a:p>
          <a:p>
            <a:pPr marL="0" lvl="0" indent="0"/>
            <a:r>
              <a:rPr lang="vi-VN" dirty="0"/>
              <a:t>Giảng viên hướng dẫn:</a:t>
            </a:r>
            <a:r>
              <a:rPr lang="en-US" dirty="0"/>
              <a:t> Phan Thị Phương Nam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Lý do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" name="Google Shape;296;p34"/>
          <p:cNvSpPr txBox="1">
            <a:spLocks noGrp="1"/>
          </p:cNvSpPr>
          <p:nvPr>
            <p:ph type="body" idx="4294967295"/>
          </p:nvPr>
        </p:nvSpPr>
        <p:spPr>
          <a:xfrm>
            <a:off x="720000" y="1269164"/>
            <a:ext cx="7704000" cy="32090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vi-VN" sz="2000" dirty="0"/>
              <a:t>Lý do: Các trang tin tức hiện đại yêu cầu lưu trữ đa dạng loại hình media (image, video) với cấu trúc linh hoạt.</a:t>
            </a:r>
            <a:endParaRPr lang="en-US" sz="2000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sz="2000" dirty="0" err="1"/>
              <a:t>Mục</a:t>
            </a:r>
            <a:r>
              <a:rPr lang="en-US" sz="2000" dirty="0"/>
              <a:t> </a:t>
            </a:r>
            <a:r>
              <a:rPr lang="en-US" sz="2000" dirty="0" err="1"/>
              <a:t>tiêu</a:t>
            </a:r>
            <a:r>
              <a:rPr lang="en-US" sz="2000" dirty="0"/>
              <a:t>: </a:t>
            </a:r>
            <a:r>
              <a:rPr lang="en-US" sz="2000" dirty="0" err="1"/>
              <a:t>Xây</a:t>
            </a:r>
            <a:r>
              <a:rPr lang="en-US" sz="2000" dirty="0"/>
              <a:t> </a:t>
            </a:r>
            <a:r>
              <a:rPr lang="en-US" sz="2000" dirty="0" err="1"/>
              <a:t>dựng</a:t>
            </a:r>
            <a:r>
              <a:rPr lang="en-US" sz="2000" dirty="0"/>
              <a:t> CSDL NoSQL </a:t>
            </a:r>
            <a:r>
              <a:rPr lang="en-US" sz="2000" dirty="0" err="1"/>
              <a:t>giúp</a:t>
            </a:r>
            <a:r>
              <a:rPr lang="en-US" sz="2000" dirty="0"/>
              <a:t> </a:t>
            </a:r>
            <a:r>
              <a:rPr lang="en-US" sz="2000" dirty="0" err="1"/>
              <a:t>truy</a:t>
            </a:r>
            <a:r>
              <a:rPr lang="en-US" sz="2000" dirty="0"/>
              <a:t> </a:t>
            </a:r>
            <a:r>
              <a:rPr lang="en-US" sz="2000" dirty="0" err="1"/>
              <a:t>xuất</a:t>
            </a:r>
            <a:r>
              <a:rPr lang="en-US" sz="2000" dirty="0"/>
              <a:t> </a:t>
            </a:r>
            <a:r>
              <a:rPr lang="en-US" sz="2000" dirty="0" err="1"/>
              <a:t>nhanh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bài</a:t>
            </a:r>
            <a:r>
              <a:rPr lang="en-US" sz="2000" dirty="0"/>
              <a:t> </a:t>
            </a:r>
            <a:r>
              <a:rPr lang="en-US" sz="2000" dirty="0" err="1"/>
              <a:t>viết</a:t>
            </a:r>
            <a:r>
              <a:rPr lang="en-US" sz="2000" dirty="0"/>
              <a:t> </a:t>
            </a:r>
            <a:r>
              <a:rPr lang="en-US" sz="2000" dirty="0" err="1"/>
              <a:t>mà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cần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phép</a:t>
            </a:r>
            <a:r>
              <a:rPr lang="en-US" sz="2000" dirty="0"/>
              <a:t> Join </a:t>
            </a:r>
            <a:r>
              <a:rPr lang="en-US" sz="2000" dirty="0" err="1"/>
              <a:t>phức</a:t>
            </a:r>
            <a:r>
              <a:rPr lang="en-US" sz="2000" dirty="0"/>
              <a:t> </a:t>
            </a:r>
            <a:r>
              <a:rPr lang="en-US" sz="2000" dirty="0" err="1"/>
              <a:t>tạp</a:t>
            </a:r>
            <a:r>
              <a:rPr lang="en-US" sz="2000" dirty="0"/>
              <a:t>.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vi-VN" sz="2000" dirty="0"/>
              <a:t>Hình ảnh: Sơ đồ so sánh giữa SQL (bảng biểu rời rạc) và NoSQL (Document chứa mọi thông tin).</a:t>
            </a: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endParaRPr lang="en-US" dirty="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/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(Embedded)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4ACF94D9-815F-2013-9763-27FA1D0486A2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830400" y="1177844"/>
            <a:ext cx="7635971" cy="3269110"/>
          </a:xfrm>
        </p:spPr>
        <p:txBody>
          <a:bodyPr/>
          <a:lstStyle/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  <a:r>
              <a:rPr lang="vi-V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Sử dụng mô hình Embedded Document để tối ưu hiệu năng.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Tac_gia: Nhúng đối tượng chứa họ tên biên tập viên.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Danh_muc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Media_dinh_kem: Nhúng mảng chứa đường dẫn hình ảnh/video.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chụp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JSON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 Compass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>
            <a:spLocks noGrp="1"/>
          </p:cNvSpPr>
          <p:nvPr>
            <p:ph type="title"/>
          </p:nvPr>
        </p:nvSpPr>
        <p:spPr>
          <a:xfrm>
            <a:off x="771428" y="625232"/>
            <a:ext cx="7429204" cy="9540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1 -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EE391BB-4839-9083-6FEE-8540A8BDD3E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37858" y="1691932"/>
            <a:ext cx="6896344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Mục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tiêu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Chứng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năng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lấy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lồng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nhau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chỉ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lệnh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b="1" dirty="0" err="1"/>
              <a:t>Lệnh</a:t>
            </a:r>
            <a:r>
              <a:rPr lang="en-US" sz="1800" b="1" dirty="0"/>
              <a:t> </a:t>
            </a:r>
            <a:r>
              <a:rPr lang="en-US" sz="1800" b="1" dirty="0" err="1"/>
              <a:t>thực</a:t>
            </a:r>
            <a:r>
              <a:rPr lang="en-US" sz="1800" b="1" dirty="0"/>
              <a:t> </a:t>
            </a:r>
            <a:r>
              <a:rPr lang="en-US" sz="1800" b="1" dirty="0" err="1"/>
              <a:t>thi</a:t>
            </a:r>
            <a:r>
              <a:rPr lang="en-US" sz="1800" b="1" dirty="0"/>
              <a:t>:</a:t>
            </a:r>
            <a:endParaRPr lang="en-US" sz="18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db.BAIVIET.find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({ "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Tieu_de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": /Tây Ban Nha/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}, { "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Tac_gia.Ho_ten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": 1, "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Danh_muc.Ten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": 1 })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36;p37">
            <a:extLst>
              <a:ext uri="{FF2B5EF4-FFF2-40B4-BE49-F238E27FC236}">
                <a16:creationId xmlns:a16="http://schemas.microsoft.com/office/drawing/2014/main" id="{49A8E684-B944-1987-4646-8EDF273755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4119" y="57007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450F09-03B5-695E-6F86-F17B9DBA6E37}"/>
              </a:ext>
            </a:extLst>
          </p:cNvPr>
          <p:cNvSpPr/>
          <p:nvPr/>
        </p:nvSpPr>
        <p:spPr>
          <a:xfrm>
            <a:off x="3889597" y="1400678"/>
            <a:ext cx="4306277" cy="259031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F82584-BDFF-4703-0E76-E06C2F0580DE}"/>
              </a:ext>
            </a:extLst>
          </p:cNvPr>
          <p:cNvSpPr txBox="1"/>
          <p:nvPr/>
        </p:nvSpPr>
        <p:spPr>
          <a:xfrm>
            <a:off x="948126" y="1510091"/>
            <a:ext cx="26547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Nhận xét: Kết quả trả về bao gồm thông tin Tác giả và Danh mục đã được nhúng sẵn, không cần truy vấn sang bảng khác.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344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E3DB56-28C0-58CB-7A20-92D170A4A315}"/>
              </a:ext>
            </a:extLst>
          </p:cNvPr>
          <p:cNvSpPr txBox="1"/>
          <p:nvPr/>
        </p:nvSpPr>
        <p:spPr>
          <a:xfrm>
            <a:off x="1069752" y="677855"/>
            <a:ext cx="6867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FE1D2-1690-8AD6-BB76-A531A2BF3BCB}"/>
              </a:ext>
            </a:extLst>
          </p:cNvPr>
          <p:cNvSpPr txBox="1"/>
          <p:nvPr/>
        </p:nvSpPr>
        <p:spPr>
          <a:xfrm>
            <a:off x="1069752" y="1449611"/>
            <a:ext cx="7004496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Quản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db.BAIVIET.find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({ "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Tac_gia.Ho_ten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Văn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Thao" })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2158-A6CA-DCB4-3043-414C38CE7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C5DE08-9BCE-2657-17C5-3BDAFBB173A5}"/>
              </a:ext>
            </a:extLst>
          </p:cNvPr>
          <p:cNvSpPr txBox="1"/>
          <p:nvPr/>
        </p:nvSpPr>
        <p:spPr>
          <a:xfrm>
            <a:off x="1260187" y="658775"/>
            <a:ext cx="3821724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96F9DB-1E33-4694-8528-AF49B48E0CEF}"/>
              </a:ext>
            </a:extLst>
          </p:cNvPr>
          <p:cNvSpPr/>
          <p:nvPr/>
        </p:nvSpPr>
        <p:spPr>
          <a:xfrm>
            <a:off x="1203569" y="1258277"/>
            <a:ext cx="6963508" cy="3126154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4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8CA430-69B8-79F9-799E-D1232F60411A}"/>
              </a:ext>
            </a:extLst>
          </p:cNvPr>
          <p:cNvSpPr txBox="1"/>
          <p:nvPr/>
        </p:nvSpPr>
        <p:spPr>
          <a:xfrm>
            <a:off x="937846" y="679939"/>
            <a:ext cx="726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Xử lý sự cố &amp; Tối ưu hóa dữ liệu</a:t>
            </a:r>
          </a:p>
        </p:txBody>
      </p:sp>
      <p:sp>
        <p:nvSpPr>
          <p:cNvPr id="12" name="Google Shape;381;p39">
            <a:extLst>
              <a:ext uri="{FF2B5EF4-FFF2-40B4-BE49-F238E27FC236}">
                <a16:creationId xmlns:a16="http://schemas.microsoft.com/office/drawing/2014/main" id="{D424F721-0440-E08D-579C-FC06115CCFA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87070" y="1329516"/>
            <a:ext cx="6990129" cy="12422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Vấn đề: Hiện tượng trùng lặp dữ liệu trong quá trình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381;p39">
            <a:extLst>
              <a:ext uri="{FF2B5EF4-FFF2-40B4-BE49-F238E27FC236}">
                <a16:creationId xmlns:a16="http://schemas.microsoft.com/office/drawing/2014/main" id="{4088DE70-4BB9-26B5-1D6F-64B690016C50}"/>
              </a:ext>
            </a:extLst>
          </p:cNvPr>
          <p:cNvSpPr txBox="1">
            <a:spLocks/>
          </p:cNvSpPr>
          <p:nvPr/>
        </p:nvSpPr>
        <p:spPr>
          <a:xfrm>
            <a:off x="1087070" y="2330784"/>
            <a:ext cx="6637202" cy="144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"/>
              <a:buNone/>
              <a:defRPr sz="25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"/>
              <a:buNone/>
              <a:defRPr sz="30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"/>
              <a:buNone/>
              <a:defRPr sz="30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"/>
              <a:buNone/>
              <a:defRPr sz="30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"/>
              <a:buNone/>
              <a:defRPr sz="30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"/>
              <a:buNone/>
              <a:defRPr sz="30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"/>
              <a:buNone/>
              <a:defRPr sz="30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"/>
              <a:buNone/>
              <a:defRPr sz="30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"/>
              <a:buNone/>
              <a:defRPr sz="30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deleteOne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thừa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477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3"/>
          <p:cNvSpPr txBox="1">
            <a:spLocks noGrp="1"/>
          </p:cNvSpPr>
          <p:nvPr>
            <p:ph type="title"/>
          </p:nvPr>
        </p:nvSpPr>
        <p:spPr>
          <a:xfrm>
            <a:off x="1644450" y="1810950"/>
            <a:ext cx="58551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</a:t>
            </a:r>
            <a:endParaRPr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454</Words>
  <Application>Microsoft Office PowerPoint</Application>
  <PresentationFormat>On-screen Show (16:9)</PresentationFormat>
  <Paragraphs>30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Hanken Grotesk</vt:lpstr>
      <vt:lpstr>Times New Roman</vt:lpstr>
      <vt:lpstr>Figtree Black</vt:lpstr>
      <vt:lpstr>Elegant Black &amp; White Thesis Defense by Slidesgo</vt:lpstr>
      <vt:lpstr>THIẾT KẾ VÀ CÀI ĐẶT CSDL NOSQL CHO HỆ THỐNG QUẢN LÝ NỘI DUNG ĐA PHƯƠNG TIỆN TRANG TIN TỨC/BLOG</vt:lpstr>
      <vt:lpstr>1/ Lý do chọn đề tài &amp; Mục tiêu</vt:lpstr>
      <vt:lpstr>2/ Thiết kế Mô hình dữ liệu Nhúng (Embedded)</vt:lpstr>
      <vt:lpstr>3/ Kết quả thực thi câu lệnh 1 - truy vấn thông tin nhúng</vt:lpstr>
      <vt:lpstr>- Hình ảnh thực thi câu lệnh:</vt:lpstr>
      <vt:lpstr>PowerPoint Presentation</vt:lpstr>
      <vt:lpstr>PowerPoint Presentation</vt:lpstr>
      <vt:lpstr>PowerPoint Presentation</vt:lpstr>
      <vt:lpstr>Thanks For Watching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Tan</cp:lastModifiedBy>
  <cp:revision>38</cp:revision>
  <dcterms:modified xsi:type="dcterms:W3CDTF">2026-01-05T10:39:43Z</dcterms:modified>
</cp:coreProperties>
</file>